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1: 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AI 코딩 어시스턴스 활용 사례 발표</a:t>
            </a:r>
          </a:p>
          <a:p>
            <a:r>
              <a:rPr sz="1800">
                <a:latin typeface="Malgun Gothic"/>
              </a:rPr>
              <a:t>소스분석기(SourceAnalyzer) 개발 프로젝트를 통해 배운 교훈</a:t>
            </a:r>
          </a:p>
          <a:p>
            <a:r>
              <a:rPr sz="1800">
                <a:latin typeface="Malgun Gothic"/>
              </a:rPr>
              <a:t>[코드블록]</a:t>
            </a:r>
          </a:p>
          <a:p>
            <a:r>
              <a:rPr sz="1800">
                <a:latin typeface="Malgun Gothic"/>
              </a:rPr>
              <a:t>    발표자: [이름]</a:t>
            </a:r>
          </a:p>
          <a:p>
            <a:r>
              <a:rPr sz="1800">
                <a:latin typeface="Malgun Gothic"/>
              </a:rPr>
              <a:t>    소속: [팀명]</a:t>
            </a:r>
          </a:p>
          <a:p>
            <a:r>
              <a:rPr sz="1800">
                <a:latin typeface="Malgun Gothic"/>
              </a:rPr>
              <a:t>    일자: 2026년 1월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2: 발표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🎯 오늘 발표의 핵심 메시지</a:t>
            </a:r>
          </a:p>
          <a:p>
            <a:r>
              <a:rPr sz="1800">
                <a:latin typeface="Malgun Gothic"/>
              </a:rPr>
              <a:t>“### "AI는 만능이 아니다. 업무와 IT를 겸비한 전문가만이 AI를 제대로 활용할 수 있다."”</a:t>
            </a:r>
          </a:p>
          <a:p>
            <a:r>
              <a:rPr sz="1800">
                <a:latin typeface="Malgun Gothic"/>
              </a:rPr>
              <a:t>발표 목적</a:t>
            </a:r>
          </a:p>
          <a:p>
            <a:r>
              <a:rPr sz="1800">
                <a:latin typeface="Malgun Gothic"/>
              </a:rPr>
              <a:t>• **공유**: AI 코딩 어시스턴스 활용 실패/성공 경험</a:t>
            </a:r>
          </a:p>
          <a:p>
            <a:r>
              <a:rPr sz="1800">
                <a:latin typeface="Malgun Gothic"/>
              </a:rPr>
              <a:t>• **전달**: 실무 노하우 및 주의사항</a:t>
            </a:r>
          </a:p>
          <a:p>
            <a:r>
              <a:rPr sz="1800">
                <a:latin typeface="Malgun Gothic"/>
              </a:rPr>
              <a:t>• **결론**: AA(Application Architect)의 가치 재확인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3: 프로젝트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SourceAnalyzer란?</a:t>
            </a:r>
          </a:p>
          <a:p>
            <a:r>
              <a:rPr sz="1800">
                <a:latin typeface="Malgun Gothic"/>
              </a:rPr>
              <a:t>“**프론트엔드 → 백엔드 → 데이터베이스** 완전한 연관관계 분석 시스템”</a:t>
            </a:r>
          </a:p>
          <a:p>
            <a:r>
              <a:rPr sz="1800">
                <a:latin typeface="Malgun Gothic"/>
              </a:rPr>
              <a:t>[코드블록: mermaid]</a:t>
            </a:r>
          </a:p>
          <a:p>
            <a:r>
              <a:rPr sz="1800">
                <a:latin typeface="Malgun Gothic"/>
              </a:rPr>
              <a:t>    flowchart LR</a:t>
            </a:r>
          </a:p>
          <a:p>
            <a:r>
              <a:rPr sz="1800">
                <a:latin typeface="Malgun Gothic"/>
              </a:rPr>
              <a:t>        A["JSP/Vue/React"] --&gt; B["Controller"]</a:t>
            </a:r>
          </a:p>
          <a:p>
            <a:r>
              <a:rPr sz="1800">
                <a:latin typeface="Malgun Gothic"/>
              </a:rPr>
              <a:t>        B --&gt; C["Service"]</a:t>
            </a:r>
          </a:p>
          <a:p>
            <a:r>
              <a:rPr sz="1800">
                <a:latin typeface="Malgun Gothic"/>
              </a:rPr>
              <a:t>        C --&gt; D["Mapper XML"]</a:t>
            </a:r>
          </a:p>
          <a:p>
            <a:r>
              <a:rPr sz="1800">
                <a:latin typeface="Malgun Gothic"/>
              </a:rPr>
              <a:t>        D --&gt; E["SQL"]</a:t>
            </a:r>
          </a:p>
          <a:p>
            <a:r>
              <a:rPr sz="1800">
                <a:latin typeface="Malgun Gothic"/>
              </a:rPr>
              <a:t>        E --&gt; F["Table/Column"]</a:t>
            </a:r>
          </a:p>
          <a:p>
            <a:r>
              <a:rPr sz="1800">
                <a:latin typeface="Malgun Gothic"/>
              </a:rPr>
              <a:t>        style A fill:#e1f5fe</a:t>
            </a:r>
          </a:p>
          <a:p>
            <a:r>
              <a:rPr sz="1800">
                <a:latin typeface="Malgun Gothic"/>
              </a:rPr>
              <a:t>        style B fill:#fff3e0</a:t>
            </a:r>
          </a:p>
          <a:p>
            <a:r>
              <a:rPr sz="1800">
                <a:latin typeface="Malgun Gothic"/>
              </a:rPr>
              <a:t>        style C fill:#fff3e0</a:t>
            </a:r>
          </a:p>
          <a:p>
            <a:r>
              <a:rPr sz="1800">
                <a:latin typeface="Malgun Gothic"/>
              </a:rPr>
              <a:t>        style D fill:#e8f5e9</a:t>
            </a:r>
          </a:p>
          <a:p>
            <a:r>
              <a:rPr sz="1800">
                <a:latin typeface="Malgun Gothic"/>
              </a:rPr>
              <a:t>        style E fill:#fce4ec</a:t>
            </a:r>
          </a:p>
          <a:p>
            <a:r>
              <a:rPr sz="1800">
                <a:latin typeface="Malgun Gothic"/>
              </a:rPr>
              <a:t>        style F fill:#f3e5f5</a:t>
            </a:r>
          </a:p>
          <a:p>
            <a:r>
              <a:rPr sz="1800">
                <a:latin typeface="Malgun Gothic"/>
              </a:rPr>
              <a:t>분석 대상</a:t>
            </a:r>
          </a:p>
          <a:p>
            <a:r>
              <a:rPr sz="1800">
                <a:latin typeface="Malgun Gothic"/>
              </a:rPr>
              <a:t>• **백엔드**: Java, Spring, MyBatis, JPA</a:t>
            </a:r>
          </a:p>
          <a:p>
            <a:r>
              <a:rPr sz="1800">
                <a:latin typeface="Malgun Gothic"/>
              </a:rPr>
              <a:t>• **프론트**: JSP, Vue, React, TypeScript</a:t>
            </a:r>
          </a:p>
          <a:p>
            <a:r>
              <a:rPr sz="1800">
                <a:latin typeface="Malgun Gothic"/>
              </a:rPr>
              <a:t>• **SQL**: Oracle JOIN 분석, 테이블/컬럼 추출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4: 7단계 분석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시스템 아키텍처</a:t>
            </a:r>
          </a:p>
          <a:p>
            <a:r>
              <a:rPr sz="1800">
                <a:latin typeface="Malgun Gothic"/>
              </a:rPr>
              <a:t>[코드블록: mermaid]</a:t>
            </a:r>
          </a:p>
          <a:p>
            <a:r>
              <a:rPr sz="1800">
                <a:latin typeface="Malgun Gothic"/>
              </a:rPr>
              <a:t>    flowchart TB</a:t>
            </a:r>
          </a:p>
          <a:p>
            <a:r>
              <a:rPr sz="1800">
                <a:latin typeface="Malgun Gothic"/>
              </a:rPr>
              <a:t>        subgraph Phase1 ["1. 데이터 수집"]</a:t>
            </a:r>
          </a:p>
          <a:p>
            <a:r>
              <a:rPr sz="1800">
                <a:latin typeface="Malgun Gothic"/>
              </a:rPr>
              <a:t>            S1["1단계: 파일 스캔"]</a:t>
            </a:r>
          </a:p>
          <a:p>
            <a:r>
              <a:rPr sz="1800">
                <a:latin typeface="Malgun Gothic"/>
              </a:rPr>
              <a:t>            S2["2단계: DB 스키마 로드"]</a:t>
            </a:r>
          </a:p>
          <a:p>
            <a:r>
              <a:rPr sz="1800">
                <a:latin typeface="Malgun Gothic"/>
              </a:rPr>
              <a:t>        end</a:t>
            </a:r>
          </a:p>
          <a:p>
            <a:r>
              <a:rPr sz="1800">
                <a:latin typeface="Malgun Gothic"/>
              </a:rPr>
              <a:t>        subgraph Phase2 ["2. 소스 분석"]</a:t>
            </a:r>
          </a:p>
          <a:p>
            <a:r>
              <a:rPr sz="1800">
                <a:latin typeface="Malgun Gothic"/>
              </a:rPr>
              <a:t>            S3["3단계: MyBatis XML 파싱"]</a:t>
            </a:r>
          </a:p>
          <a:p>
            <a:r>
              <a:rPr sz="1800">
                <a:latin typeface="Malgun Gothic"/>
              </a:rPr>
              <a:t>            S4["4단계: Java 클래스 추출"]</a:t>
            </a:r>
          </a:p>
          <a:p>
            <a:r>
              <a:rPr sz="1800">
                <a:latin typeface="Malgun Gothic"/>
              </a:rPr>
              <a:t>            S5["5단계: API 진입점 분석"]</a:t>
            </a:r>
          </a:p>
          <a:p>
            <a:r>
              <a:rPr sz="1800">
                <a:latin typeface="Malgun Gothic"/>
              </a:rPr>
              <a:t>        end</a:t>
            </a:r>
          </a:p>
          <a:p>
            <a:r>
              <a:rPr sz="1800">
                <a:latin typeface="Malgun Gothic"/>
              </a:rPr>
              <a:t>        subgraph Phase3 ["3. 연관관계 구축"]</a:t>
            </a:r>
          </a:p>
          <a:p>
            <a:r>
              <a:rPr sz="1800">
                <a:latin typeface="Malgun Gothic"/>
              </a:rPr>
              <a:t>            S6["6단계: 프론트엔드 분석"]</a:t>
            </a:r>
          </a:p>
          <a:p>
            <a:r>
              <a:rPr sz="1800">
                <a:latin typeface="Malgun Gothic"/>
              </a:rPr>
              <a:t>            S7["7단계: 무결성 검증"]</a:t>
            </a:r>
          </a:p>
          <a:p>
            <a:r>
              <a:rPr sz="1800">
                <a:latin typeface="Malgun Gothic"/>
              </a:rPr>
              <a:t>        end</a:t>
            </a:r>
          </a:p>
          <a:p>
            <a:r>
              <a:rPr sz="1800">
                <a:latin typeface="Malgun Gothic"/>
              </a:rPr>
              <a:t>        Phase1 --&gt; Phase2 --&gt; Phase3</a:t>
            </a:r>
          </a:p>
          <a:p>
            <a:r>
              <a:rPr sz="1800">
                <a:latin typeface="Malgun Gothic"/>
              </a:rPr>
              <a:t>        style Phase1 fill:#e3f2fd</a:t>
            </a:r>
          </a:p>
          <a:p>
            <a:r>
              <a:rPr sz="1800">
                <a:latin typeface="Malgun Gothic"/>
              </a:rPr>
              <a:t>        style Phase2 fill:#fff8e1</a:t>
            </a:r>
          </a:p>
          <a:p>
            <a:r>
              <a:rPr sz="1800">
                <a:latin typeface="Malgun Gothic"/>
              </a:rPr>
              <a:t>        style Phase3 fill:#e8f5e9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5: 시행착오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❌ 9번의 실패로 배운 교훈</a:t>
            </a:r>
          </a:p>
          <a:p>
            <a:r>
              <a:rPr sz="1800">
                <a:latin typeface="Malgun Gothic"/>
              </a:rPr>
              <a:t>• 시도=1차, 요청=무계획 개발 요청, 결과=의도와 다른 결과물</a:t>
            </a:r>
          </a:p>
          <a:p>
            <a:r>
              <a:rPr sz="1800">
                <a:latin typeface="Malgun Gothic"/>
              </a:rPr>
              <a:t>• 시도=2차, 요청=PRD 작성 후 개발, 결과=여전히 미완성</a:t>
            </a:r>
          </a:p>
          <a:p>
            <a:r>
              <a:rPr sz="1800">
                <a:latin typeface="Malgun Gothic"/>
              </a:rPr>
              <a:t>• 시도=3차, 요청=파서 개발 요청, 결과=복잡도 폭발로 중단</a:t>
            </a:r>
          </a:p>
          <a:p>
            <a:r>
              <a:rPr sz="1800">
                <a:latin typeface="Malgun Gothic"/>
              </a:rPr>
              <a:t>• 시도=4차, 요청=메타DB 직접 설계, 결과=기존 소스 망가뜨림</a:t>
            </a:r>
          </a:p>
          <a:p>
            <a:r>
              <a:rPr sz="1800">
                <a:latin typeface="Malgun Gothic"/>
              </a:rPr>
              <a:t>• 시도=5차, 요청=설계 불변 원칙 강조, 결과=몰래 스키마 변경</a:t>
            </a:r>
          </a:p>
          <a:p>
            <a:r>
              <a:rPr sz="1800">
                <a:latin typeface="Malgun Gothic"/>
              </a:rPr>
              <a:t>• 시도=6차, 요청=검토 요청, 결과=바로 개발 시작</a:t>
            </a:r>
          </a:p>
          <a:p>
            <a:r>
              <a:rPr sz="1800">
                <a:latin typeface="Malgun Gothic"/>
              </a:rPr>
              <a:t>• 시도=7차, 요청=분할 정복 전략, 결과=통합 실패</a:t>
            </a:r>
          </a:p>
          <a:p>
            <a:r>
              <a:rPr sz="1800">
                <a:latin typeface="Malgun Gothic"/>
              </a:rPr>
              <a:t>• 시도=8차, 요청=중복 코드 금지, 결과=계속 중복 개발</a:t>
            </a:r>
          </a:p>
          <a:p>
            <a:r>
              <a:rPr sz="1800">
                <a:latin typeface="Malgun Gothic"/>
              </a:rPr>
              <a:t>• 시도=9차, 요청=정답지 기반 검증, 결과=우회적 처리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6: 시행착오 ① 무계획 개발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첫 번째 시도 ❌</a:t>
            </a:r>
          </a:p>
          <a:p>
            <a:r>
              <a:rPr sz="1800">
                <a:latin typeface="Malgun Gothic"/>
              </a:rPr>
              <a:t>🗣️ 요청</a:t>
            </a:r>
          </a:p>
          <a:p>
            <a:r>
              <a:rPr sz="1800">
                <a:latin typeface="Malgun Gothic"/>
              </a:rPr>
              <a:t>“"소스분석기 개발해줘"”</a:t>
            </a:r>
          </a:p>
          <a:p>
            <a:r>
              <a:rPr sz="1800">
                <a:latin typeface="Malgun Gothic"/>
              </a:rPr>
              <a:t>😱 결과</a:t>
            </a:r>
          </a:p>
          <a:p>
            <a:r>
              <a:rPr sz="1800">
                <a:latin typeface="Malgun Gothic"/>
              </a:rPr>
              <a:t>• 거침없이 코드 작성</a:t>
            </a:r>
          </a:p>
          <a:p>
            <a:r>
              <a:rPr sz="1800">
                <a:latin typeface="Malgun Gothic"/>
              </a:rPr>
              <a:t>• 겉보기에 그럴듯함</a:t>
            </a:r>
          </a:p>
          <a:p>
            <a:r>
              <a:rPr sz="1800">
                <a:latin typeface="Malgun Gothic"/>
              </a:rPr>
              <a:t>• **의도와 전혀 다른 결과물**</a:t>
            </a:r>
          </a:p>
          <a:p>
            <a:r>
              <a:rPr sz="1800">
                <a:latin typeface="Malgun Gothic"/>
              </a:rPr>
              <a:t>💡 교훈</a:t>
            </a:r>
          </a:p>
          <a:p>
            <a:r>
              <a:rPr sz="1800">
                <a:latin typeface="Malgun Gothic"/>
              </a:rPr>
              <a:t>“**"명확한 요구사항 없이 AI에게 개발을 맡기면 실패한다."**”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7: 시행착오 ② PRD 작성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두 번째 시도 ❌</a:t>
            </a:r>
          </a:p>
          <a:p>
            <a:r>
              <a:rPr sz="1800">
                <a:latin typeface="Malgun Gothic"/>
              </a:rPr>
              <a:t>🗣️ 요청</a:t>
            </a:r>
          </a:p>
          <a:p>
            <a:r>
              <a:rPr sz="1800">
                <a:latin typeface="Malgun Gothic"/>
              </a:rPr>
              <a:t>“"소스분석기(프론트→백엔드→DB 연관관계 분석)를 만들 건데, 아래 내용을 포함해서 PRD 작성해줘.”</a:t>
            </a:r>
          </a:p>
          <a:p>
            <a:r>
              <a:rPr sz="1800">
                <a:latin typeface="Malgun Gothic"/>
              </a:rPr>
              <a:t>“- 배경/목표(왜 필요한지), 주요 사용자/사용 시나리오”</a:t>
            </a:r>
          </a:p>
          <a:p>
            <a:r>
              <a:rPr sz="1800">
                <a:latin typeface="Malgun Gothic"/>
              </a:rPr>
              <a:t>“- 분석 범위/비범위(예: JSP/JS/Vue, Spring Controller, MyBatis XML, DB 스키마 CSV)”</a:t>
            </a:r>
          </a:p>
          <a:p>
            <a:r>
              <a:rPr sz="1800">
                <a:latin typeface="Malgun Gothic"/>
              </a:rPr>
              <a:t>“- 입력/출력(산출물: `metadata.db`, `SqlContent.db`, 리포트 종류), 품질 기준(정확도/성능/로그)”</a:t>
            </a:r>
          </a:p>
          <a:p>
            <a:r>
              <a:rPr sz="1800">
                <a:latin typeface="Malgun Gothic"/>
              </a:rPr>
              <a:t>“- 제약사항(폐쇄망 실행, 크로스플랫폼 경로, 예외 발생 시 중지 등)”</a:t>
            </a:r>
          </a:p>
          <a:p>
            <a:r>
              <a:rPr sz="1800">
                <a:latin typeface="Malgun Gothic"/>
              </a:rPr>
              <a:t>“- 단계별 구현 우선순위와 수용 기준(어떤 상태면 '완료'인지)"”</a:t>
            </a:r>
          </a:p>
          <a:p>
            <a:r>
              <a:rPr sz="1800">
                <a:latin typeface="Malgun Gothic"/>
              </a:rPr>
              <a:t>“→ "작성한 PRD 기준으로 모듈/단계별로 설계·구현해줘"”</a:t>
            </a:r>
          </a:p>
          <a:p>
            <a:r>
              <a:rPr sz="1800">
                <a:latin typeface="Malgun Gothic"/>
              </a:rPr>
              <a:t>😱 결과</a:t>
            </a:r>
          </a:p>
          <a:p>
            <a:r>
              <a:rPr sz="1800">
                <a:latin typeface="Malgun Gothic"/>
              </a:rPr>
              <a:t>• AI가 작성한 PRD</a:t>
            </a:r>
          </a:p>
          <a:p>
            <a:r>
              <a:rPr sz="1800">
                <a:latin typeface="Malgun Gothic"/>
              </a:rPr>
              <a:t>• 형식은 갖춤</a:t>
            </a:r>
          </a:p>
          <a:p>
            <a:r>
              <a:rPr sz="1800">
                <a:latin typeface="Malgun Gothic"/>
              </a:rPr>
              <a:t>• **그럴듯하지만 가정/추측이 많고, 현업 맥락(용어·데이터·예외·우선순위·수용기준)이 빠짐**</a:t>
            </a:r>
          </a:p>
          <a:p>
            <a:r>
              <a:rPr sz="1800">
                <a:latin typeface="Malgun Gothic"/>
              </a:rPr>
              <a:t>💡 교훈</a:t>
            </a:r>
          </a:p>
          <a:p>
            <a:r>
              <a:rPr sz="1800">
                <a:latin typeface="Malgun Gothic"/>
              </a:rPr>
              <a:t>“**"PRD는 AI가 '작성'하는 문서가 아니라, 업무 전문가가 '정의·검증'하고 AI는 초안/정리만 돕게 해야 한다."**”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8: 시행착오 ③ 파서 개발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세 번째 시도 ❌</a:t>
            </a:r>
          </a:p>
          <a:p>
            <a:r>
              <a:rPr sz="1800">
                <a:latin typeface="Malgun Gothic"/>
              </a:rPr>
              <a:t>🗣️ 요청</a:t>
            </a:r>
          </a:p>
          <a:p>
            <a:r>
              <a:rPr sz="1800">
                <a:latin typeface="Malgun Gothic"/>
              </a:rPr>
              <a:t>“"Java 파서 개발해줘", "SQL 쿼리 파서 개발해줘"”</a:t>
            </a:r>
          </a:p>
          <a:p>
            <a:r>
              <a:rPr sz="1800">
                <a:latin typeface="Malgun Gothic"/>
              </a:rPr>
              <a:t>😱 결과</a:t>
            </a:r>
          </a:p>
          <a:p>
            <a:r>
              <a:rPr sz="1800">
                <a:latin typeface="Malgun Gothic"/>
              </a:rPr>
              <a:t>• 완벽한 문법 검증용 정교한 파서 시도</a:t>
            </a:r>
          </a:p>
          <a:p>
            <a:r>
              <a:rPr sz="1800">
                <a:latin typeface="Malgun Gothic"/>
              </a:rPr>
              <a:t>• **복잡도 급격히 증가 → 완성 못함**</a:t>
            </a:r>
          </a:p>
          <a:p>
            <a:r>
              <a:rPr sz="1800">
                <a:latin typeface="Malgun Gothic"/>
              </a:rPr>
              <a:t>🔑 핵심 포인트</a:t>
            </a:r>
          </a:p>
          <a:p>
            <a:r>
              <a:rPr sz="1800">
                <a:latin typeface="Malgun Gothic"/>
              </a:rPr>
              <a:t>[코드블록]</a:t>
            </a:r>
          </a:p>
          <a:p>
            <a:r>
              <a:rPr sz="1800">
                <a:latin typeface="Malgun Gothic"/>
              </a:rPr>
              <a:t>    목표: 정확한 신택스 체크 ❌</a:t>
            </a:r>
          </a:p>
          <a:p>
            <a:r>
              <a:rPr sz="1800">
                <a:latin typeface="Malgun Gothic"/>
              </a:rPr>
              <a:t>    목표: 소스 간 연관관계 분석 ✅</a:t>
            </a:r>
          </a:p>
          <a:p>
            <a:r>
              <a:rPr sz="1800">
                <a:latin typeface="Malgun Gothic"/>
              </a:rPr>
              <a:t>💡 교훈</a:t>
            </a:r>
          </a:p>
          <a:p>
            <a:r>
              <a:rPr sz="1800">
                <a:latin typeface="Malgun Gothic"/>
              </a:rPr>
              <a:t>“**"AI는 방향 제시를 스스로 하지 못한다. '무엇을 위해' 개발하는지 사람이 알려줘야 한다."**”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9: 시행착오 ④⑤ 설계와 상상 코딩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네 번째 &amp; 다섯 번째 시도 ❌</a:t>
            </a:r>
          </a:p>
          <a:p>
            <a:r>
              <a:rPr sz="1800">
                <a:latin typeface="Malgun Gothic"/>
              </a:rPr>
              <a:t>메타DB 직접 설계 + 설계 불변 원칙 강조</a:t>
            </a:r>
          </a:p>
          <a:p>
            <a:r>
              <a:rPr sz="1800">
                <a:latin typeface="Malgun Gothic"/>
              </a:rPr>
              <a:t>• 시도=4차, 상황=메타DB 직접 설계 후 개발, 결과=복잡도 ↑ → 기존 소스 망가뜨림</a:t>
            </a:r>
          </a:p>
          <a:p>
            <a:r>
              <a:rPr sz="1800">
                <a:latin typeface="Malgun Gothic"/>
              </a:rPr>
              <a:t>• 시도=5차, 상황="스키마 변경 절대 금지!" 강조, 결과=**몰래 컬럼 추가** 😤</a:t>
            </a:r>
          </a:p>
          <a:p>
            <a:r>
              <a:rPr sz="1800">
                <a:latin typeface="Malgun Gothic"/>
              </a:rPr>
              <a:t>🎭 상상 코딩 문제</a:t>
            </a:r>
          </a:p>
          <a:p>
            <a:r>
              <a:rPr sz="1800">
                <a:latin typeface="Malgun Gothic"/>
              </a:rPr>
              <a:t>“문서화를 해놔도, AI는 어디선가 학습한 **자신만의 관점으로 "상상 코딩"**”</a:t>
            </a:r>
          </a:p>
          <a:p>
            <a:r>
              <a:rPr sz="1800">
                <a:latin typeface="Malgun Gothic"/>
              </a:rPr>
              <a:t>💡 교훈</a:t>
            </a:r>
          </a:p>
          <a:p>
            <a:r>
              <a:rPr sz="1800">
                <a:latin typeface="Malgun Gothic"/>
              </a:rPr>
              <a:t>“**"Git에 커밋해서 버전관리를 하지 않으면 복구 불가능하다."**”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10: 시행착오 ⑥ 검토 요청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여섯 번째 시도 ❌</a:t>
            </a:r>
          </a:p>
          <a:p>
            <a:r>
              <a:rPr sz="1800">
                <a:latin typeface="Malgun Gothic"/>
              </a:rPr>
              <a:t>🗣️ 요청</a:t>
            </a:r>
          </a:p>
          <a:p>
            <a:r>
              <a:rPr sz="1800">
                <a:latin typeface="Malgun Gothic"/>
              </a:rPr>
              <a:t>“"XXX 검토해줘"”</a:t>
            </a:r>
          </a:p>
          <a:p>
            <a:r>
              <a:rPr sz="1800">
                <a:latin typeface="Malgun Gothic"/>
              </a:rPr>
              <a:t>😱 결과</a:t>
            </a:r>
          </a:p>
          <a:p>
            <a:r>
              <a:rPr sz="1800">
                <a:latin typeface="Malgun Gothic"/>
              </a:rPr>
              <a:t>• 검토 먼저 ❌</a:t>
            </a:r>
          </a:p>
          <a:p>
            <a:r>
              <a:rPr sz="1800">
                <a:latin typeface="Malgun Gothic"/>
              </a:rPr>
              <a:t>• **바로 개발 시작** ⚠️</a:t>
            </a:r>
          </a:p>
          <a:p>
            <a:r>
              <a:rPr sz="1800">
                <a:latin typeface="Malgun Gothic"/>
              </a:rPr>
              <a:t>• 소스 또 망가짐</a:t>
            </a:r>
          </a:p>
          <a:p>
            <a:r>
              <a:rPr sz="1800">
                <a:latin typeface="Malgun Gothic"/>
              </a:rPr>
              <a:t>• "개발하라고 안 했잖아… 제발 검토 먼저 하고 개발 좀 하자" 😭</a:t>
            </a:r>
          </a:p>
          <a:p>
            <a:r>
              <a:rPr sz="1800">
                <a:latin typeface="Malgun Gothic"/>
              </a:rPr>
              <a:t>💡 교훈</a:t>
            </a:r>
          </a:p>
          <a:p>
            <a:r>
              <a:rPr sz="1800">
                <a:latin typeface="Malgun Gothic"/>
              </a:rPr>
              <a:t>“**"검토해줘"라고 해도 AI는 개발을 시작한다.**”</a:t>
            </a:r>
          </a:p>
          <a:p>
            <a:r>
              <a:rPr sz="1800">
                <a:latin typeface="Malgun Gothic"/>
              </a:rPr>
              <a:t>“**"개발하지 말고 검토만 해줘. 결과를 문서로 정리해줘."** 라고 명확히!”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11: 시행착오 ⑦⑧ 분할 정복 &amp; 중복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일곱 번째 &amp; 여덟 번째 시도 ❌</a:t>
            </a:r>
          </a:p>
          <a:p>
            <a:r>
              <a:rPr sz="1800">
                <a:latin typeface="Malgun Gothic"/>
              </a:rPr>
              <a:t>[코드블록: mermaid]</a:t>
            </a:r>
          </a:p>
          <a:p>
            <a:r>
              <a:rPr sz="1800">
                <a:latin typeface="Malgun Gothic"/>
              </a:rPr>
              <a:t>    flowchart LR</a:t>
            </a:r>
          </a:p>
          <a:p>
            <a:r>
              <a:rPr sz="1800">
                <a:latin typeface="Malgun Gothic"/>
              </a:rPr>
              <a:t>        subgraph DivideConquer ["분할정복"]</a:t>
            </a:r>
          </a:p>
          <a:p>
            <a:r>
              <a:rPr sz="1800">
                <a:latin typeface="Malgun Gothic"/>
              </a:rPr>
              <a:t>            A["모듈A"] </a:t>
            </a:r>
          </a:p>
          <a:p>
            <a:r>
              <a:rPr sz="1800">
                <a:latin typeface="Malgun Gothic"/>
              </a:rPr>
              <a:t>            B["모듈B"]</a:t>
            </a:r>
          </a:p>
          <a:p>
            <a:r>
              <a:rPr sz="1800">
                <a:latin typeface="Malgun Gothic"/>
              </a:rPr>
              <a:t>            C["모듈C"]</a:t>
            </a:r>
          </a:p>
          <a:p>
            <a:r>
              <a:rPr sz="1800">
                <a:latin typeface="Malgun Gothic"/>
              </a:rPr>
              <a:t>        end</a:t>
            </a:r>
          </a:p>
          <a:p>
            <a:r>
              <a:rPr sz="1800">
                <a:latin typeface="Malgun Gothic"/>
              </a:rPr>
              <a:t>        subgraph IntegrationFail ["통합실패"]</a:t>
            </a:r>
          </a:p>
          <a:p>
            <a:r>
              <a:rPr sz="1800">
                <a:latin typeface="Malgun Gothic"/>
              </a:rPr>
              <a:t>            D["전체 시스템 ???"]</a:t>
            </a:r>
          </a:p>
          <a:p>
            <a:r>
              <a:rPr sz="1800">
                <a:latin typeface="Malgun Gothic"/>
              </a:rPr>
              <a:t>        end</a:t>
            </a:r>
          </a:p>
          <a:p>
            <a:r>
              <a:rPr sz="1800">
                <a:latin typeface="Malgun Gothic"/>
              </a:rPr>
              <a:t>        A --&gt; D</a:t>
            </a:r>
          </a:p>
          <a:p>
            <a:r>
              <a:rPr sz="1800">
                <a:latin typeface="Malgun Gothic"/>
              </a:rPr>
              <a:t>        B --&gt; D</a:t>
            </a:r>
          </a:p>
          <a:p>
            <a:r>
              <a:rPr sz="1800">
                <a:latin typeface="Malgun Gothic"/>
              </a:rPr>
              <a:t>        C --&gt; D</a:t>
            </a:r>
          </a:p>
          <a:p>
            <a:r>
              <a:rPr sz="1800">
                <a:latin typeface="Malgun Gothic"/>
              </a:rPr>
              <a:t>        style D fill:#ffcdd2</a:t>
            </a:r>
          </a:p>
          <a:p>
            <a:r>
              <a:rPr sz="1800">
                <a:latin typeface="Malgun Gothic"/>
              </a:rPr>
              <a:t>• **7차: 분할 정복**: 각 모듈은 OK, 전체 통합 실패</a:t>
            </a:r>
          </a:p>
          <a:p>
            <a:r>
              <a:rPr sz="1800">
                <a:latin typeface="Malgun Gothic"/>
              </a:rPr>
              <a:t>• **8차: 중복 코드**: 기존 소스 있어도 계속 중복 개발</a:t>
            </a:r>
          </a:p>
          <a:p>
            <a:r>
              <a:rPr sz="1800">
                <a:latin typeface="Malgun Gothic"/>
              </a:rPr>
              <a:t>💡 교훈</a:t>
            </a:r>
          </a:p>
          <a:p>
            <a:r>
              <a:rPr sz="1800">
                <a:latin typeface="Malgun Gothic"/>
              </a:rPr>
              <a:t>“**"AI는 부분 최적화는 잘하지만, 전체 최적화는 사람이 해야 한다."**”</a:t>
            </a:r>
          </a:p>
          <a:p>
            <a:r>
              <a:rPr sz="1800">
                <a:latin typeface="Malgun Gothic"/>
              </a:rPr>
              <a:t>“**건초더미에서 바늘 찾기** - 규모가 커지면 전체를 보지 못함”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12: 시행착오 ⑨ 정답지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아홉 번째 시도 ❌</a:t>
            </a:r>
          </a:p>
          <a:p>
            <a:r>
              <a:rPr sz="1800">
                <a:latin typeface="Malgun Gothic"/>
              </a:rPr>
              <a:t>🗣️ 요청</a:t>
            </a:r>
          </a:p>
          <a:p>
            <a:r>
              <a:rPr sz="1800">
                <a:latin typeface="Malgun Gothic"/>
              </a:rPr>
              <a:t>“"정답지 만들어서 비교하고, 차이가 있으면 개선해"”</a:t>
            </a:r>
          </a:p>
          <a:p>
            <a:r>
              <a:rPr sz="1800">
                <a:latin typeface="Malgun Gothic"/>
              </a:rPr>
              <a:t>😱 AI의 우회적 대응</a:t>
            </a:r>
          </a:p>
          <a:p>
            <a:r>
              <a:rPr sz="1800">
                <a:latin typeface="Malgun Gothic"/>
              </a:rPr>
              <a:t>[코드블록: mermaid]</a:t>
            </a:r>
          </a:p>
          <a:p>
            <a:r>
              <a:rPr sz="1800">
                <a:latin typeface="Malgun Gothic"/>
              </a:rPr>
              <a:t>    flowchart LR</a:t>
            </a:r>
          </a:p>
          <a:p>
            <a:r>
              <a:rPr sz="1800">
                <a:latin typeface="Malgun Gothic"/>
              </a:rPr>
              <a:t>        A["차이 발견"] --&gt; B{"어떻게 할까?"}</a:t>
            </a:r>
          </a:p>
          <a:p>
            <a:r>
              <a:rPr sz="1800">
                <a:latin typeface="Malgun Gothic"/>
              </a:rPr>
              <a:t>        B --&gt;|"근본 해결"| C["원인 분석 후 수정 - OK"]</a:t>
            </a:r>
          </a:p>
          <a:p>
            <a:r>
              <a:rPr sz="1800">
                <a:latin typeface="Malgun Gothic"/>
              </a:rPr>
              <a:t>        B --&gt;|"우회 1"| D["하드코딩 - NG"]</a:t>
            </a:r>
          </a:p>
          <a:p>
            <a:r>
              <a:rPr sz="1800">
                <a:latin typeface="Malgun Gothic"/>
              </a:rPr>
              <a:t>        B --&gt;|"우회 2"| E["정답지 수정 - NG"]</a:t>
            </a:r>
          </a:p>
          <a:p>
            <a:r>
              <a:rPr sz="1800">
                <a:latin typeface="Malgun Gothic"/>
              </a:rPr>
              <a:t>        style C fill:#c8e6c9</a:t>
            </a:r>
          </a:p>
          <a:p>
            <a:r>
              <a:rPr sz="1800">
                <a:latin typeface="Malgun Gothic"/>
              </a:rPr>
              <a:t>        style D fill:#ffcdd2</a:t>
            </a:r>
          </a:p>
          <a:p>
            <a:r>
              <a:rPr sz="1800">
                <a:latin typeface="Malgun Gothic"/>
              </a:rPr>
              <a:t>        style E fill:#ffcdd2</a:t>
            </a:r>
          </a:p>
          <a:p>
            <a:r>
              <a:rPr sz="1800">
                <a:latin typeface="Malgun Gothic"/>
              </a:rPr>
              <a:t>💡 교훈</a:t>
            </a:r>
          </a:p>
          <a:p>
            <a:r>
              <a:rPr sz="1800">
                <a:latin typeface="Malgun Gothic"/>
              </a:rPr>
              <a:t>“**"AI는 '차이를 없애라'는 목표만 달성하려 한다. 근본 원인 해결보다 우회 전략을 선호."**”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13: AI 협업 원칙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✅ AI와 협업할 때 필요한 것들</a:t>
            </a:r>
          </a:p>
          <a:p>
            <a:r>
              <a:rPr sz="1800">
                <a:latin typeface="Malgun Gothic"/>
              </a:rPr>
              <a:t>핵심 원칙 7가지</a:t>
            </a:r>
          </a:p>
          <a:p>
            <a:r>
              <a:rPr sz="1800">
                <a:latin typeface="Malgun Gothic"/>
              </a:rPr>
              <a:t>• #=1, 원칙=**목표 명시**, 설명="무엇이 아니라 왜"를 설명</a:t>
            </a:r>
          </a:p>
          <a:p>
            <a:r>
              <a:rPr sz="1800">
                <a:latin typeface="Malgun Gothic"/>
              </a:rPr>
              <a:t>• #=2, 원칙=**설계 불변 영역**, 설명=DDL 읽기 전용, 변경 시 에러</a:t>
            </a:r>
          </a:p>
          <a:p>
            <a:r>
              <a:rPr sz="1800">
                <a:latin typeface="Malgun Gothic"/>
              </a:rPr>
              <a:t>• #=3, 원칙=**단계별 검증**, 설명=설계→검토→개발→테스트→커밋</a:t>
            </a:r>
          </a:p>
          <a:p>
            <a:r>
              <a:rPr sz="1800">
                <a:latin typeface="Malgun Gothic"/>
              </a:rPr>
              <a:t>• #=4, 원칙=**버전 관리 필수**, 설명=Git 없이는 복구 불가</a:t>
            </a:r>
          </a:p>
          <a:p>
            <a:r>
              <a:rPr sz="1800">
                <a:latin typeface="Malgun Gothic"/>
              </a:rPr>
              <a:t>• #=5, 원칙=**컴파일/테스트**, 설명=자동화된 검증 필수</a:t>
            </a:r>
          </a:p>
          <a:p>
            <a:r>
              <a:rPr sz="1800">
                <a:latin typeface="Malgun Gothic"/>
              </a:rPr>
              <a:t>• #=6, 원칙=**예외는 즉시 중지**, 설명=`logger.debug(...) 후 skip` 금지 → `logger.error(...)` 후 종료</a:t>
            </a:r>
          </a:p>
          <a:p>
            <a:r>
              <a:rPr sz="1800">
                <a:latin typeface="Malgun Gothic"/>
              </a:rPr>
              <a:t>• #=7, 원칙=**실시간 모니터링**, 설명=👀 한시도 눈을 뗄 수 없음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14: AI 협업 원칙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👀 실시간 모니터링 필수</a:t>
            </a:r>
          </a:p>
          <a:p>
            <a:r>
              <a:rPr sz="1800">
                <a:latin typeface="Malgun Gothic"/>
              </a:rPr>
              <a:t>“### "자동으로 개발시키고 넋 놓고 있다가 하도 당해서, 무슨 헛짓거리를 하는지 한시도 눈을 뗄 수 없다. 또 하드코딩???"”</a:t>
            </a:r>
          </a:p>
          <a:p>
            <a:r>
              <a:rPr sz="1800">
                <a:latin typeface="Malgun Gothic"/>
              </a:rPr>
              <a:t>🔥 실제로 터진 사고들</a:t>
            </a:r>
          </a:p>
          <a:p>
            <a:r>
              <a:rPr sz="1800">
                <a:latin typeface="Malgun Gothic"/>
              </a:rPr>
              <a:t>• "시키지 않은 일은 하지 마라. 꼭 시키는 것만 해."</a:t>
            </a:r>
          </a:p>
          <a:p>
            <a:r>
              <a:rPr sz="1800">
                <a:latin typeface="Malgun Gothic"/>
              </a:rPr>
              <a:t>• Exception 처리: `logger.debug(...)` 찍고 Skip → 에러 은폐 → 뒷부분에서 더 큰 장애/디버깅 지옥</a:t>
            </a:r>
          </a:p>
          <a:p>
            <a:r>
              <a:rPr sz="1800">
                <a:latin typeface="Malgun Gothic"/>
              </a:rPr>
              <a:t>• 관계는 메타DB에 있는데 ERD에 고아 엔티티 발생(원인 불명)</a:t>
            </a:r>
          </a:p>
          <a:p>
            <a:r>
              <a:rPr sz="1800">
                <a:latin typeface="Malgun Gothic"/>
              </a:rPr>
              <a:t>• ERD 생성 시 관계선 `50개 제한` 같은 임의 최적화 → 고아 엔티티 양산 (제발… 시키는 것만…)</a:t>
            </a:r>
          </a:p>
          <a:p>
            <a:r>
              <a:rPr sz="1800">
                <a:latin typeface="Malgun Gothic"/>
              </a:rPr>
              <a:t>[코드블록: mermaid]</a:t>
            </a:r>
          </a:p>
          <a:p>
            <a:r>
              <a:rPr sz="1800">
                <a:latin typeface="Malgun Gothic"/>
              </a:rPr>
              <a:t>    flowchart LR</a:t>
            </a:r>
          </a:p>
          <a:p>
            <a:r>
              <a:rPr sz="1800">
                <a:latin typeface="Malgun Gothic"/>
              </a:rPr>
              <a:t>        A["AI 개발 시작"] --&gt; B{"감독 여부"}</a:t>
            </a:r>
          </a:p>
          <a:p>
            <a:r>
              <a:rPr sz="1800">
                <a:latin typeface="Malgun Gothic"/>
              </a:rPr>
              <a:t>        B --&gt;|"감독 중"| C["방향 수정 가능 - OK"]</a:t>
            </a:r>
          </a:p>
          <a:p>
            <a:r>
              <a:rPr sz="1800">
                <a:latin typeface="Malgun Gothic"/>
              </a:rPr>
              <a:t>        B --&gt;|"방치"| D["하드코딩"]</a:t>
            </a:r>
          </a:p>
          <a:p>
            <a:r>
              <a:rPr sz="1800">
                <a:latin typeface="Malgun Gothic"/>
              </a:rPr>
              <a:t>        B --&gt;|"방치"| E["스키마 변경"]</a:t>
            </a:r>
          </a:p>
          <a:p>
            <a:r>
              <a:rPr sz="1800">
                <a:latin typeface="Malgun Gothic"/>
              </a:rPr>
              <a:t>        B --&gt;|"방치"| F["중복 코드"]</a:t>
            </a:r>
          </a:p>
          <a:p>
            <a:r>
              <a:rPr sz="1800">
                <a:latin typeface="Malgun Gothic"/>
              </a:rPr>
              <a:t>        B --&gt;|"방치"| G["엉뚱한 개발"]</a:t>
            </a:r>
          </a:p>
          <a:p>
            <a:r>
              <a:rPr sz="1800">
                <a:latin typeface="Malgun Gothic"/>
              </a:rPr>
              <a:t>        style C fill:#c8e6c9</a:t>
            </a:r>
          </a:p>
          <a:p>
            <a:r>
              <a:rPr sz="1800">
                <a:latin typeface="Malgun Gothic"/>
              </a:rPr>
              <a:t>        style D fill:#ffcdd2</a:t>
            </a:r>
          </a:p>
          <a:p>
            <a:r>
              <a:rPr sz="1800">
                <a:latin typeface="Malgun Gothic"/>
              </a:rPr>
              <a:t>        style E fill:#ffcdd2</a:t>
            </a:r>
          </a:p>
          <a:p>
            <a:r>
              <a:rPr sz="1800">
                <a:latin typeface="Malgun Gothic"/>
              </a:rPr>
              <a:t>        style F fill:#ffcdd2</a:t>
            </a:r>
          </a:p>
          <a:p>
            <a:r>
              <a:rPr sz="1800">
                <a:latin typeface="Malgun Gothic"/>
              </a:rPr>
              <a:t>        style G fill:#ffcdd2</a:t>
            </a:r>
          </a:p>
          <a:p>
            <a:r>
              <a:rPr sz="1800">
                <a:latin typeface="Malgun Gothic"/>
              </a:rPr>
              <a:t>AI = "일 잘하는 척하는 신입사원" 🧑‍💼</a:t>
            </a:r>
          </a:p>
          <a:p>
            <a:r>
              <a:rPr sz="1800">
                <a:latin typeface="Malgun Gothic"/>
              </a:rPr>
              <a:t>**감독 없이는 폭주함!**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15: 모델 간 협업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🔄 토큰 절약 &amp; 품질 향상 노하우</a:t>
            </a:r>
          </a:p>
          <a:p>
            <a:r>
              <a:rPr sz="1800">
                <a:latin typeface="Malgun Gothic"/>
              </a:rPr>
              <a:t>모델 간 핑퐁 전략</a:t>
            </a:r>
          </a:p>
          <a:p>
            <a:r>
              <a:rPr sz="1800">
                <a:latin typeface="Malgun Gothic"/>
              </a:rPr>
              <a:t>[코드블록: mermaid]</a:t>
            </a:r>
          </a:p>
          <a:p>
            <a:r>
              <a:rPr sz="1800">
                <a:latin typeface="Malgun Gothic"/>
              </a:rPr>
              <a:t>    flowchart TB</a:t>
            </a:r>
          </a:p>
          <a:p>
            <a:r>
              <a:rPr sz="1800">
                <a:latin typeface="Malgun Gothic"/>
              </a:rPr>
              <a:t>        A["Gemini Pro - 설계 문서화"] --&gt; B["Claude Code - 설계문서 검토"]</a:t>
            </a:r>
          </a:p>
          <a:p>
            <a:r>
              <a:rPr sz="1800">
                <a:latin typeface="Malgun Gothic"/>
              </a:rPr>
              <a:t>        B --&gt; C["Gemini Pro - 검토결과 재검토"]</a:t>
            </a:r>
          </a:p>
          <a:p>
            <a:r>
              <a:rPr sz="1800">
                <a:latin typeface="Malgun Gothic"/>
              </a:rPr>
              <a:t>        C --&gt; D["반복..."]</a:t>
            </a:r>
          </a:p>
          <a:p>
            <a:r>
              <a:rPr sz="1800">
                <a:latin typeface="Malgun Gothic"/>
              </a:rPr>
              <a:t>        style A fill:#e8f5e9</a:t>
            </a:r>
          </a:p>
          <a:p>
            <a:r>
              <a:rPr sz="1800">
                <a:latin typeface="Malgun Gothic"/>
              </a:rPr>
              <a:t>        style B fill:#e3f2fd</a:t>
            </a:r>
          </a:p>
          <a:p>
            <a:r>
              <a:rPr sz="1800">
                <a:latin typeface="Malgun Gothic"/>
              </a:rPr>
              <a:t>        style C fill:#e8f5e9</a:t>
            </a:r>
          </a:p>
          <a:p>
            <a:r>
              <a:rPr sz="1800">
                <a:latin typeface="Malgun Gothic"/>
              </a:rPr>
              <a:t>질의서 기반 협업</a:t>
            </a:r>
          </a:p>
          <a:p>
            <a:r>
              <a:rPr sz="1800">
                <a:latin typeface="Malgun Gothic"/>
              </a:rPr>
              <a:t>• 1: AI에게 "시니어 개발자에게 질의서 작성하라" 요청</a:t>
            </a:r>
          </a:p>
          <a:p>
            <a:r>
              <a:rPr sz="1800">
                <a:latin typeface="Malgun Gothic"/>
              </a:rPr>
              <a:t>• 2: 다른 모델에게 질의서에 대한 답변 요청</a:t>
            </a:r>
          </a:p>
          <a:p>
            <a:r>
              <a:rPr sz="1800">
                <a:latin typeface="Malgun Gothic"/>
              </a:rPr>
              <a:t>• 3: 답변 기반으로 원래 모델이 문제 해결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16: 현업의 오해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🎭 이미지 위변조 감지 기능 요청 사례</a:t>
            </a:r>
          </a:p>
          <a:p>
            <a:r>
              <a:rPr sz="1800">
                <a:latin typeface="Malgun Gothic"/>
              </a:rPr>
              <a:t>상황</a:t>
            </a:r>
          </a:p>
          <a:p>
            <a:r>
              <a:rPr sz="1800">
                <a:latin typeface="Malgun Gothic"/>
              </a:rPr>
              <a:t>“"ChatGPT가 다 개발해줬으니 IT개발팀에서 적용만 해달라"”</a:t>
            </a:r>
          </a:p>
          <a:p>
            <a:r>
              <a:rPr sz="1800">
                <a:latin typeface="Malgun Gothic"/>
              </a:rPr>
              <a:t>실제 결과</a:t>
            </a:r>
          </a:p>
          <a:p>
            <a:r>
              <a:rPr sz="1800">
                <a:latin typeface="Malgun Gothic"/>
              </a:rPr>
              <a:t>[코드블록: mermaid]</a:t>
            </a:r>
          </a:p>
          <a:p>
            <a:r>
              <a:rPr sz="1800">
                <a:latin typeface="Malgun Gothic"/>
              </a:rPr>
              <a:t>    flowchart LR</a:t>
            </a:r>
          </a:p>
          <a:p>
            <a:r>
              <a:rPr sz="1800">
                <a:latin typeface="Malgun Gothic"/>
              </a:rPr>
              <a:t>        subgraph Expected ["기대했던 것"]</a:t>
            </a:r>
          </a:p>
          <a:p>
            <a:r>
              <a:rPr sz="1800">
                <a:latin typeface="Malgun Gothic"/>
              </a:rPr>
              <a:t>            A1["위변조 감지&lt;br/&gt;핵심 알고리즘"]</a:t>
            </a:r>
          </a:p>
          <a:p>
            <a:r>
              <a:rPr sz="1800">
                <a:latin typeface="Malgun Gothic"/>
              </a:rPr>
              <a:t>            A2["병렬 처리 로직"]</a:t>
            </a:r>
          </a:p>
          <a:p>
            <a:r>
              <a:rPr sz="1800">
                <a:latin typeface="Malgun Gothic"/>
              </a:rPr>
              <a:t>        end</a:t>
            </a:r>
          </a:p>
          <a:p>
            <a:r>
              <a:rPr sz="1800">
                <a:latin typeface="Malgun Gothic"/>
              </a:rPr>
              <a:t>        subgraph Actual ["실제로 받은 것"]</a:t>
            </a:r>
          </a:p>
          <a:p>
            <a:r>
              <a:rPr sz="1800">
                <a:latin typeface="Malgun Gothic"/>
              </a:rPr>
              <a:t>            B1["핵심 알고리즘&lt;br/&gt;비어있음"]</a:t>
            </a:r>
          </a:p>
          <a:p>
            <a:r>
              <a:rPr sz="1800">
                <a:latin typeface="Malgun Gothic"/>
              </a:rPr>
              <a:t>            B2["병렬 처리 로직&lt;br/&gt;껍데기만"]</a:t>
            </a:r>
          </a:p>
          <a:p>
            <a:r>
              <a:rPr sz="1800">
                <a:latin typeface="Malgun Gothic"/>
              </a:rPr>
              <a:t>        end</a:t>
            </a:r>
          </a:p>
          <a:p>
            <a:r>
              <a:rPr sz="1800">
                <a:latin typeface="Malgun Gothic"/>
              </a:rPr>
              <a:t>        style A1 fill:#c8e6c9</a:t>
            </a:r>
          </a:p>
          <a:p>
            <a:r>
              <a:rPr sz="1800">
                <a:latin typeface="Malgun Gothic"/>
              </a:rPr>
              <a:t>        style B1 fill:#ffcdd2</a:t>
            </a:r>
          </a:p>
          <a:p>
            <a:r>
              <a:rPr sz="1800">
                <a:latin typeface="Malgun Gothic"/>
              </a:rPr>
              <a:t>💡 교훈</a:t>
            </a:r>
          </a:p>
          <a:p>
            <a:r>
              <a:rPr sz="1800">
                <a:latin typeface="Malgun Gothic"/>
              </a:rPr>
              <a:t>“**"IT도 알고, 업무도 알아야 AI에게 일을 제대로 시킬 수 있다."**”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17: 빅테크의 교훈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🔄 AI 부메랑 - 조용한 재고용</a:t>
            </a:r>
          </a:p>
          <a:p>
            <a:r>
              <a:rPr sz="1800">
                <a:latin typeface="Malgun Gothic"/>
              </a:rPr>
              <a:t>미국 빅테크 기업 사례</a:t>
            </a:r>
          </a:p>
          <a:p>
            <a:r>
              <a:rPr sz="1800">
                <a:latin typeface="Malgun Gothic"/>
              </a:rPr>
              <a:t>[코드블록: mermaid]</a:t>
            </a:r>
          </a:p>
          <a:p>
            <a:r>
              <a:rPr sz="1800">
                <a:latin typeface="Malgun Gothic"/>
              </a:rPr>
              <a:t>    flowchart LR</a:t>
            </a:r>
          </a:p>
          <a:p>
            <a:r>
              <a:rPr sz="1800">
                <a:latin typeface="Malgun Gothic"/>
              </a:rPr>
              <a:t>        A["AI 도입"] --&gt; B["개발자 해고"]</a:t>
            </a:r>
          </a:p>
          <a:p>
            <a:r>
              <a:rPr sz="1800">
                <a:latin typeface="Malgun Gothic"/>
              </a:rPr>
              <a:t>        B --&gt; C["AI가 소스 엉망으로 만듦"]</a:t>
            </a:r>
          </a:p>
          <a:p>
            <a:r>
              <a:rPr sz="1800">
                <a:latin typeface="Malgun Gothic"/>
              </a:rPr>
              <a:t>        C --&gt; D["검수할 사람 없음"]</a:t>
            </a:r>
          </a:p>
          <a:p>
            <a:r>
              <a:rPr sz="1800">
                <a:latin typeface="Malgun Gothic"/>
              </a:rPr>
              <a:t>        D --&gt; E["조용한 재고용"]</a:t>
            </a:r>
          </a:p>
          <a:p>
            <a:r>
              <a:rPr sz="1800">
                <a:latin typeface="Malgun Gothic"/>
              </a:rPr>
              <a:t>        style A fill:#fff3e0</a:t>
            </a:r>
          </a:p>
          <a:p>
            <a:r>
              <a:rPr sz="1800">
                <a:latin typeface="Malgun Gothic"/>
              </a:rPr>
              <a:t>        style B fill:#ffcdd2</a:t>
            </a:r>
          </a:p>
          <a:p>
            <a:r>
              <a:rPr sz="1800">
                <a:latin typeface="Malgun Gothic"/>
              </a:rPr>
              <a:t>        style C fill:#ffcdd2</a:t>
            </a:r>
          </a:p>
          <a:p>
            <a:r>
              <a:rPr sz="1800">
                <a:latin typeface="Malgun Gothic"/>
              </a:rPr>
              <a:t>        style D fill:#ffcdd2</a:t>
            </a:r>
          </a:p>
          <a:p>
            <a:r>
              <a:rPr sz="1800">
                <a:latin typeface="Malgun Gothic"/>
              </a:rPr>
              <a:t>        style E fill:#c8e6c9</a:t>
            </a:r>
          </a:p>
          <a:p>
            <a:r>
              <a:rPr sz="1800">
                <a:latin typeface="Malgun Gothic"/>
              </a:rPr>
              <a:t>🔑 핵심</a:t>
            </a:r>
          </a:p>
          <a:p>
            <a:r>
              <a:rPr sz="1800">
                <a:latin typeface="Malgun Gothic"/>
              </a:rPr>
              <a:t>“**결국 사람이 필요함을 깨달음**”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18: 내부망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🏢 내부망 소규모 모델의 현실</a:t>
            </a:r>
          </a:p>
          <a:p>
            <a:r>
              <a:rPr sz="1800">
                <a:latin typeface="Malgun Gothic"/>
              </a:rPr>
              <a:t>현황 비교</a:t>
            </a:r>
          </a:p>
          <a:p>
            <a:r>
              <a:rPr sz="1800">
                <a:latin typeface="Malgun Gothic"/>
              </a:rPr>
              <a:t>• 외부 SOTA 모델: 만족스럽지 못함</a:t>
            </a:r>
          </a:p>
          <a:p>
            <a:r>
              <a:rPr sz="1800">
                <a:latin typeface="Malgun Gothic"/>
              </a:rPr>
              <a:t>• 내부망 7B 모델: **만족도 더 떨어질 것**</a:t>
            </a:r>
          </a:p>
          <a:p>
            <a:r>
              <a:rPr sz="1800">
                <a:latin typeface="Malgun Gothic"/>
              </a:rPr>
              <a:t>• 대형 모델 사용: 비용 문제로 가성비 낮음</a:t>
            </a:r>
          </a:p>
          <a:p>
            <a:r>
              <a:rPr sz="1800">
                <a:latin typeface="Malgun Gothic"/>
              </a:rPr>
              <a:t>• 결론: 채팅창으로 단순 질의 용도로 충분</a:t>
            </a:r>
          </a:p>
          <a:p>
            <a:r>
              <a:rPr sz="1800">
                <a:latin typeface="Malgun Gothic"/>
              </a:rPr>
              <a:t>⚠️ But, 미래는 불확실</a:t>
            </a:r>
          </a:p>
          <a:p>
            <a:r>
              <a:rPr sz="1800">
                <a:latin typeface="Malgun Gothic"/>
              </a:rPr>
              <a:t>“**"AI는 급격히 발달하고 있다. 조만간 어떻게 될지 아무도 모른다."**”</a:t>
            </a:r>
          </a:p>
          <a:p>
            <a:r>
              <a:rPr sz="1800">
                <a:latin typeface="Malgun Gothic"/>
              </a:rPr>
              <a:t>• 현재의 한계 ≠ 미래의 한계</a:t>
            </a:r>
          </a:p>
          <a:p>
            <a:r>
              <a:rPr sz="1800">
                <a:latin typeface="Malgun Gothic"/>
              </a:rPr>
              <a:t>• **지속적인 관심과 준비** 필요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19: AI가 도움되는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✅ 이럴 때는 AI가 유용</a:t>
            </a:r>
          </a:p>
          <a:p>
            <a:r>
              <a:rPr sz="1800">
                <a:latin typeface="Malgun Gothic"/>
              </a:rPr>
              <a:t>도움받을 수 있는 영역</a:t>
            </a:r>
          </a:p>
          <a:p>
            <a:r>
              <a:rPr sz="1800">
                <a:latin typeface="Malgun Gothic"/>
              </a:rPr>
              <a:t>• 소스 스니펫 개발: ⭐⭐⭐⭐⭐</a:t>
            </a:r>
          </a:p>
          <a:p>
            <a:r>
              <a:rPr sz="1800">
                <a:latin typeface="Malgun Gothic"/>
              </a:rPr>
              <a:t>• 단순 변환 로직: ⭐⭐⭐⭐⭐</a:t>
            </a:r>
          </a:p>
          <a:p>
            <a:r>
              <a:rPr sz="1800">
                <a:latin typeface="Malgun Gothic"/>
              </a:rPr>
              <a:t>• 보일러플레이트 코드: ⭐⭐⭐⭐⭐</a:t>
            </a:r>
          </a:p>
          <a:p>
            <a:r>
              <a:rPr sz="1800">
                <a:latin typeface="Malgun Gothic"/>
              </a:rPr>
              <a:t>• 라이브러리 간 데이터 변환: ⭐⭐⭐⭐</a:t>
            </a:r>
          </a:p>
          <a:p>
            <a:r>
              <a:rPr sz="1800">
                <a:latin typeface="Malgun Gothic"/>
              </a:rPr>
              <a:t>• 복잡한 아키텍처 설계: ⭐⭐</a:t>
            </a:r>
          </a:p>
          <a:p>
            <a:r>
              <a:rPr sz="1800">
                <a:latin typeface="Malgun Gothic"/>
              </a:rPr>
              <a:t>• 전체 시스템 통합: ⭐</a:t>
            </a:r>
          </a:p>
          <a:p>
            <a:r>
              <a:rPr sz="1800">
                <a:latin typeface="Malgun Gothic"/>
              </a:rPr>
              <a:t>예시: AI OCR 좌표 변환</a:t>
            </a:r>
          </a:p>
          <a:p>
            <a:r>
              <a:rPr sz="1800">
                <a:latin typeface="Malgun Gothic"/>
              </a:rPr>
              <a:t>[코드블록: python]</a:t>
            </a:r>
          </a:p>
          <a:p>
            <a:r>
              <a:rPr sz="1800">
                <a:latin typeface="Malgun Gothic"/>
              </a:rPr>
              <a:t>    # 0~1000 좌표계 → 픽셀 좌표계 변환</a:t>
            </a:r>
          </a:p>
          <a:p>
            <a:r>
              <a:rPr sz="1800">
                <a:latin typeface="Malgun Gothic"/>
              </a:rPr>
              <a:t>    # 이런 시행착오는 LLM 도움으로 줄일 수 있음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20: R&amp;R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🤔 누가 수행해야 하는가?</a:t>
            </a:r>
          </a:p>
          <a:p>
            <a:r>
              <a:rPr sz="1800">
                <a:latin typeface="Malgun Gothic"/>
              </a:rPr>
              <a:t>조직 현황</a:t>
            </a:r>
          </a:p>
          <a:p>
            <a:r>
              <a:rPr sz="1800">
                <a:latin typeface="Malgun Gothic"/>
              </a:rPr>
              <a:t>[코드블록: mermaid]</a:t>
            </a:r>
          </a:p>
          <a:p>
            <a:r>
              <a:rPr sz="1800">
                <a:latin typeface="Malgun Gothic"/>
              </a:rPr>
              <a:t>    flowchart TB</a:t>
            </a:r>
          </a:p>
          <a:p>
            <a:r>
              <a:rPr sz="1800">
                <a:latin typeface="Malgun Gothic"/>
              </a:rPr>
              <a:t>        subgraph Current ["현황"]</a:t>
            </a:r>
          </a:p>
          <a:p>
            <a:r>
              <a:rPr sz="1800">
                <a:latin typeface="Malgun Gothic"/>
              </a:rPr>
              <a:t>            A["기간계시스템팀&lt;br/&gt;개발/운영 담당"]</a:t>
            </a:r>
          </a:p>
          <a:p>
            <a:r>
              <a:rPr sz="1800">
                <a:latin typeface="Malgun Gothic"/>
              </a:rPr>
              <a:t>            B["AI팀&lt;br/&gt;AI 기획만"]</a:t>
            </a:r>
          </a:p>
          <a:p>
            <a:r>
              <a:rPr sz="1800">
                <a:latin typeface="Malgun Gothic"/>
              </a:rPr>
              <a:t>        end</a:t>
            </a:r>
          </a:p>
          <a:p>
            <a:r>
              <a:rPr sz="1800">
                <a:latin typeface="Malgun Gothic"/>
              </a:rPr>
              <a:t>        subgraph Question ["질문"]</a:t>
            </a:r>
          </a:p>
          <a:p>
            <a:r>
              <a:rPr sz="1800">
                <a:latin typeface="Malgun Gothic"/>
              </a:rPr>
              <a:t>            C["AI POC는 누가?"]</a:t>
            </a:r>
          </a:p>
          <a:p>
            <a:r>
              <a:rPr sz="1800">
                <a:latin typeface="Malgun Gothic"/>
              </a:rPr>
              <a:t>        end</a:t>
            </a:r>
          </a:p>
          <a:p>
            <a:r>
              <a:rPr sz="1800">
                <a:latin typeface="Malgun Gothic"/>
              </a:rPr>
              <a:t>        A -.-&gt; C</a:t>
            </a:r>
          </a:p>
          <a:p>
            <a:r>
              <a:rPr sz="1800">
                <a:latin typeface="Malgun Gothic"/>
              </a:rPr>
              <a:t>        B -.-&gt; C</a:t>
            </a:r>
          </a:p>
          <a:p>
            <a:r>
              <a:rPr sz="1800">
                <a:latin typeface="Malgun Gothic"/>
              </a:rPr>
              <a:t>고민 포인트</a:t>
            </a:r>
          </a:p>
          <a:p>
            <a:r>
              <a:rPr sz="1800">
                <a:latin typeface="Malgun Gothic"/>
              </a:rPr>
              <a:t>• 기술 내재화 없이 무조건 아웃소싱? ❌</a:t>
            </a:r>
          </a:p>
          <a:p>
            <a:r>
              <a:rPr sz="1800">
                <a:latin typeface="Malgun Gothic"/>
              </a:rPr>
              <a:t>• 조직 역량과 R&amp;R 범위 불명확</a:t>
            </a:r>
          </a:p>
          <a:p>
            <a:r>
              <a:rPr sz="1800">
                <a:latin typeface="Malgun Gothic"/>
              </a:rPr>
              <a:t>FAST FAIL 필요</a:t>
            </a:r>
          </a:p>
          <a:p>
            <a:r>
              <a:rPr sz="1800">
                <a:latin typeface="Malgun Gothic"/>
              </a:rPr>
              <a:t>“**"AI, 신기술 트렌드는 급격히 변화한다. 빠른 시행착오(Fast Fail)가 필요하다."**”</a:t>
            </a:r>
          </a:p>
          <a:p>
            <a:r>
              <a:rPr sz="1800">
                <a:latin typeface="Malgun Gothic"/>
              </a:rPr>
              <a:t>• **빠른 POC → 피드백 → 개선** 사이클</a:t>
            </a:r>
          </a:p>
          <a:p>
            <a:r>
              <a:rPr sz="1800">
                <a:latin typeface="Malgun Gothic"/>
              </a:rPr>
              <a:t>• **작게 빠르게 실패하면서 배우는 문화**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21: AA의 가치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👑 AA(Application Architect)가 필요한 이유</a:t>
            </a:r>
          </a:p>
          <a:p>
            <a:r>
              <a:rPr sz="1800">
                <a:latin typeface="Malgun Gothic"/>
              </a:rPr>
              <a:t>[코드블록: mermaid]</a:t>
            </a:r>
          </a:p>
          <a:p>
            <a:r>
              <a:rPr sz="1800">
                <a:latin typeface="Malgun Gothic"/>
              </a:rPr>
              <a:t>    flowchart TB</a:t>
            </a:r>
          </a:p>
          <a:p>
            <a:r>
              <a:rPr sz="1800">
                <a:latin typeface="Malgun Gothic"/>
              </a:rPr>
              <a:t>        AA["AA의 역할"] --&gt; R1["방향 제시"]</a:t>
            </a:r>
          </a:p>
          <a:p>
            <a:r>
              <a:rPr sz="1800">
                <a:latin typeface="Malgun Gothic"/>
              </a:rPr>
              <a:t>        AA --&gt; R2["품질 검증"]</a:t>
            </a:r>
          </a:p>
          <a:p>
            <a:r>
              <a:rPr sz="1800">
                <a:latin typeface="Malgun Gothic"/>
              </a:rPr>
              <a:t>        AA --&gt; R3["전체 통합"]</a:t>
            </a:r>
          </a:p>
          <a:p>
            <a:r>
              <a:rPr sz="1800">
                <a:latin typeface="Malgun Gothic"/>
              </a:rPr>
              <a:t>        AA --&gt; R4["업무 맥락"]</a:t>
            </a:r>
          </a:p>
          <a:p>
            <a:r>
              <a:rPr sz="1800">
                <a:latin typeface="Malgun Gothic"/>
              </a:rPr>
              <a:t>        AA --&gt; R5["아키텍처 설계"]</a:t>
            </a:r>
          </a:p>
          <a:p>
            <a:r>
              <a:rPr sz="1800">
                <a:latin typeface="Malgun Gothic"/>
              </a:rPr>
              <a:t>        R1 --&gt; R1a["AI는 목표 설정 못함"]</a:t>
            </a:r>
          </a:p>
          <a:p>
            <a:r>
              <a:rPr sz="1800">
                <a:latin typeface="Malgun Gothic"/>
              </a:rPr>
              <a:t>        R1 --&gt; R1b["무엇을 위해 정의"]</a:t>
            </a:r>
          </a:p>
          <a:p>
            <a:r>
              <a:rPr sz="1800">
                <a:latin typeface="Malgun Gothic"/>
              </a:rPr>
              <a:t>        R2 --&gt; R2a["AI 결과물 검수"]</a:t>
            </a:r>
          </a:p>
          <a:p>
            <a:r>
              <a:rPr sz="1800">
                <a:latin typeface="Malgun Gothic"/>
              </a:rPr>
              <a:t>        R2 --&gt; R2b["표준 준수 확인"]</a:t>
            </a:r>
          </a:p>
          <a:p>
            <a:r>
              <a:rPr sz="1800">
                <a:latin typeface="Malgun Gothic"/>
              </a:rPr>
              <a:t>        R3 --&gt; R3a["부분에서 전체 시스템으로"]</a:t>
            </a:r>
          </a:p>
          <a:p>
            <a:r>
              <a:rPr sz="1800">
                <a:latin typeface="Malgun Gothic"/>
              </a:rPr>
              <a:t>        R3 --&gt; R3b["아키텍처 일관성"]</a:t>
            </a:r>
          </a:p>
          <a:p>
            <a:r>
              <a:rPr sz="1800">
                <a:latin typeface="Malgun Gothic"/>
              </a:rPr>
              <a:t>        R4 --&gt; R4a["비즈니스 요구사항 이해"]</a:t>
            </a:r>
          </a:p>
          <a:p>
            <a:r>
              <a:rPr sz="1800">
                <a:latin typeface="Malgun Gothic"/>
              </a:rPr>
              <a:t>        R4 --&gt; R4b["도메인 지식"]</a:t>
            </a:r>
          </a:p>
          <a:p>
            <a:r>
              <a:rPr sz="1800">
                <a:latin typeface="Malgun Gothic"/>
              </a:rPr>
              <a:t>        R5 --&gt; R5a["확장성 있는 구조"]</a:t>
            </a:r>
          </a:p>
          <a:p>
            <a:r>
              <a:rPr sz="1800">
                <a:latin typeface="Malgun Gothic"/>
              </a:rPr>
              <a:t>        R5 --&gt; R5b["장기적 관점"]</a:t>
            </a:r>
          </a:p>
          <a:p>
            <a:r>
              <a:rPr sz="1800">
                <a:latin typeface="Malgun Gothic"/>
              </a:rPr>
              <a:t>        style AA fill:#fff3e0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22: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🎯 AI 코딩 어시스턴스 활용 핵심 원칙</a:t>
            </a:r>
          </a:p>
          <a:p>
            <a:r>
              <a:rPr sz="1800">
                <a:latin typeface="Malgun Gothic"/>
              </a:rPr>
              <a:t>• **목표 명시**: "무엇을 위해" 개발하는지 명확히</a:t>
            </a:r>
          </a:p>
          <a:p>
            <a:r>
              <a:rPr sz="1800">
                <a:latin typeface="Malgun Gothic"/>
              </a:rPr>
              <a:t>• **설계 선행**: 사람이 직접 설계, AI는 구현</a:t>
            </a:r>
          </a:p>
          <a:p>
            <a:r>
              <a:rPr sz="1800">
                <a:latin typeface="Malgun Gothic"/>
              </a:rPr>
              <a:t>• **단계적 검증**: 검토 → 커밋 → 다음 단계</a:t>
            </a:r>
          </a:p>
          <a:p>
            <a:r>
              <a:rPr sz="1800">
                <a:latin typeface="Malgun Gothic"/>
              </a:rPr>
              <a:t>• **버전 관리 필수**: Git 없이는 복구 불가</a:t>
            </a:r>
          </a:p>
          <a:p>
            <a:r>
              <a:rPr sz="1800">
                <a:latin typeface="Malgun Gothic"/>
              </a:rPr>
              <a:t>• **모델 간 협업**: 여러 모델 교차 검토</a:t>
            </a:r>
          </a:p>
          <a:p>
            <a:r>
              <a:rPr sz="1800">
                <a:latin typeface="Malgun Gothic"/>
              </a:rPr>
              <a:t>• **사람의 통제**: AI 결과물은 반드시 검수</a:t>
            </a:r>
          </a:p>
          <a:p>
            <a:r>
              <a:rPr sz="1800">
                <a:latin typeface="Malgun Gothic"/>
              </a:rPr>
              <a:t>• **실시간 감독**: 👀 한시도 눈을 떼지 마라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23: 최종 메시지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🚗 AI는 도구일 뿐, 운전자는 사람이다</a:t>
            </a:r>
          </a:p>
          <a:p>
            <a:r>
              <a:rPr sz="1800">
                <a:latin typeface="Malgun Gothic"/>
              </a:rPr>
              <a:t>[코드블록: mermaid]</a:t>
            </a:r>
          </a:p>
          <a:p>
            <a:r>
              <a:rPr sz="1800">
                <a:latin typeface="Malgun Gothic"/>
              </a:rPr>
              <a:t>    flowchart LR</a:t>
            </a:r>
          </a:p>
          <a:p>
            <a:r>
              <a:rPr sz="1800">
                <a:latin typeface="Malgun Gothic"/>
              </a:rPr>
              <a:t>        subgraph AIRole ["AI의 역할"]</a:t>
            </a:r>
          </a:p>
          <a:p>
            <a:r>
              <a:rPr sz="1800">
                <a:latin typeface="Malgun Gothic"/>
              </a:rPr>
              <a:t>            A["코드 생성"]</a:t>
            </a:r>
          </a:p>
          <a:p>
            <a:r>
              <a:rPr sz="1800">
                <a:latin typeface="Malgun Gothic"/>
              </a:rPr>
              <a:t>            B["반복 작업"]</a:t>
            </a:r>
          </a:p>
          <a:p>
            <a:r>
              <a:rPr sz="1800">
                <a:latin typeface="Malgun Gothic"/>
              </a:rPr>
              <a:t>            C["문서 초안"]</a:t>
            </a:r>
          </a:p>
          <a:p>
            <a:r>
              <a:rPr sz="1800">
                <a:latin typeface="Malgun Gothic"/>
              </a:rPr>
              <a:t>        end</a:t>
            </a:r>
          </a:p>
          <a:p>
            <a:r>
              <a:rPr sz="1800">
                <a:latin typeface="Malgun Gothic"/>
              </a:rPr>
              <a:t>        subgraph HumanRole ["사람의 역할"]</a:t>
            </a:r>
          </a:p>
          <a:p>
            <a:r>
              <a:rPr sz="1800">
                <a:latin typeface="Malgun Gothic"/>
              </a:rPr>
              <a:t>            D["방향 설정"]</a:t>
            </a:r>
          </a:p>
          <a:p>
            <a:r>
              <a:rPr sz="1800">
                <a:latin typeface="Malgun Gothic"/>
              </a:rPr>
              <a:t>            E["품질 검증"]</a:t>
            </a:r>
          </a:p>
          <a:p>
            <a:r>
              <a:rPr sz="1800">
                <a:latin typeface="Malgun Gothic"/>
              </a:rPr>
              <a:t>            F["최종 결정"]</a:t>
            </a:r>
          </a:p>
          <a:p>
            <a:r>
              <a:rPr sz="1800">
                <a:latin typeface="Malgun Gothic"/>
              </a:rPr>
              <a:t>        end</a:t>
            </a:r>
          </a:p>
          <a:p>
            <a:r>
              <a:rPr sz="1800">
                <a:latin typeface="Malgun Gothic"/>
              </a:rPr>
              <a:t>        AIRole --&gt; Result["결과물"]</a:t>
            </a:r>
          </a:p>
          <a:p>
            <a:r>
              <a:rPr sz="1800">
                <a:latin typeface="Malgun Gothic"/>
              </a:rPr>
              <a:t>        HumanRole --&gt; Result</a:t>
            </a:r>
          </a:p>
          <a:p>
            <a:r>
              <a:rPr sz="1800">
                <a:latin typeface="Malgun Gothic"/>
              </a:rPr>
              <a:t>        Result --&gt; Success["성공"]</a:t>
            </a:r>
          </a:p>
          <a:p>
            <a:r>
              <a:rPr sz="1800">
                <a:latin typeface="Malgun Gothic"/>
              </a:rPr>
              <a:t>        style HumanRole fill:#c8e6c9</a:t>
            </a:r>
          </a:p>
          <a:p>
            <a:r>
              <a:rPr sz="1800">
                <a:latin typeface="Malgun Gothic"/>
              </a:rPr>
              <a:t>“### "업무와 IT를 겸비한 기간계시스템 AA들은 AI에 대체될 수 없는 조직의 필수 인력이다."”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Malgun Gothic"/>
              </a:defRPr>
            </a:pPr>
            <a:r>
              <a:t>📄 Page 24: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Malgun Gothic"/>
              </a:rPr>
              <a:t>질문 환영합니다! 🙋</a:t>
            </a:r>
          </a:p>
          <a:p>
            <a:r>
              <a:rPr sz="1800">
                <a:latin typeface="Malgun Gothic"/>
              </a:rPr>
              <a:t>📧 Contact</a:t>
            </a:r>
          </a:p>
          <a:p>
            <a:r>
              <a:rPr sz="1800">
                <a:latin typeface="Malgun Gothic"/>
              </a:rPr>
              <a:t>• 발표자: [이름]</a:t>
            </a:r>
          </a:p>
          <a:p>
            <a:r>
              <a:rPr sz="1800">
                <a:latin typeface="Malgun Gothic"/>
              </a:rPr>
              <a:t>• 이메일: [이메일]</a:t>
            </a:r>
          </a:p>
          <a:p>
            <a:r>
              <a:rPr sz="1800">
                <a:latin typeface="Malgun Gothic"/>
              </a:rPr>
              <a:t>• 팀: [팀명]</a:t>
            </a:r>
          </a:p>
          <a:p>
            <a:r>
              <a:rPr sz="1800">
                <a:latin typeface="Malgun Gothic"/>
              </a:rPr>
              <a:t>🔗 참고 자료</a:t>
            </a:r>
          </a:p>
          <a:p>
            <a:r>
              <a:rPr sz="1800">
                <a:latin typeface="Malgun Gothic"/>
              </a:rPr>
              <a:t>• SourceAnalyzer 프로젝트 문서</a:t>
            </a:r>
          </a:p>
          <a:p>
            <a:r>
              <a:rPr sz="1800">
                <a:latin typeface="Malgun Gothic"/>
              </a:rPr>
              <a:t>• AI 코딩 어시스턴스 활용 가이드</a:t>
            </a:r>
          </a:p>
          <a:p>
            <a:r>
              <a:rPr sz="1800">
                <a:latin typeface="Malgun Gothic"/>
              </a:rPr>
              <a:t>“**발표자 노트**:”</a:t>
            </a:r>
          </a:p>
          <a:p>
            <a:r>
              <a:rPr sz="1800">
                <a:latin typeface="Malgun Gothic"/>
              </a:rPr>
              <a:t>“- 시행착오 사례는 스토리텔링으로 발표”</a:t>
            </a:r>
          </a:p>
          <a:p>
            <a:r>
              <a:rPr sz="1800">
                <a:latin typeface="Malgun Gothic"/>
              </a:rPr>
              <a:t>“- Mermaid 다이어그램은 PPT에서 이미지로 변환”</a:t>
            </a:r>
          </a:p>
          <a:p>
            <a:r>
              <a:rPr sz="1800">
                <a:latin typeface="Malgun Gothic"/>
              </a:rPr>
              <a:t>“- 핵심 인용구는 큰 폰트로 강조”</a:t>
            </a:r>
          </a:p>
          <a:p>
            <a:r>
              <a:rPr sz="1800">
                <a:latin typeface="Malgun Gothic"/>
              </a:rPr>
              <a:t>“- 청중 공감을 위해 실패 경험 솔직하게 공유”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